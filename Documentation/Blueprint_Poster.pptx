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
  </p:notesMasterIdLst>
  <p:sldIdLst>
    <p:sldId id="257" r:id="rId2"/>
  </p:sldIdLst>
  <p:sldSz cx="38404800" cy="384048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AFC"/>
    <a:srgbClr val="FFFFFF"/>
    <a:srgbClr val="BB1C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8BC827-4E04-A001-FA5A-D1346C6D2365}" v="82" dt="2026-03-31T16:16:46.968"/>
    <p1510:client id="{87C21CA3-00C4-E319-8395-B12403EFA428}" v="877" dt="2026-03-31T22:16:40.4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5590" autoAdjust="0"/>
    <p:restoredTop sz="94660"/>
  </p:normalViewPr>
  <p:slideViewPr>
    <p:cSldViewPr snapToGrid="0">
      <p:cViewPr>
        <p:scale>
          <a:sx n="28" d="100"/>
          <a:sy n="28" d="100"/>
        </p:scale>
        <p:origin x="780" y="-99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ED9595-0AE4-4B15-B393-D0F1DD0EB94B}" type="datetimeFigureOut">
              <a:rPr lang="en-US" smtClean="0"/>
              <a:t>4/2/2026</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25C3F-4975-439A-8DC6-D347DA98E7F9}" type="slidenum">
              <a:rPr lang="en-US" smtClean="0"/>
              <a:t>‹#›</a:t>
            </a:fld>
            <a:endParaRPr lang="en-US"/>
          </a:p>
        </p:txBody>
      </p:sp>
    </p:spTree>
    <p:extLst>
      <p:ext uri="{BB962C8B-B14F-4D97-AF65-F5344CB8AC3E}">
        <p14:creationId xmlns:p14="http://schemas.microsoft.com/office/powerpoint/2010/main" val="3463055927"/>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5950" y="1143000"/>
            <a:ext cx="30861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25C3F-4975-439A-8DC6-D347DA98E7F9}" type="slidenum">
              <a:rPr lang="en-US" smtClean="0"/>
              <a:t>1</a:t>
            </a:fld>
            <a:endParaRPr lang="en-US"/>
          </a:p>
        </p:txBody>
      </p:sp>
    </p:spTree>
    <p:extLst>
      <p:ext uri="{BB962C8B-B14F-4D97-AF65-F5344CB8AC3E}">
        <p14:creationId xmlns:p14="http://schemas.microsoft.com/office/powerpoint/2010/main" val="4135253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endParaRPr lang="en-US" dirty="0"/>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78697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30533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endParaRPr lang="en-US" dirty="0"/>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solidFill>
              </a:defRPr>
            </a:lvl1pPr>
            <a:lvl2pPr marL="1920240" indent="0">
              <a:buNone/>
              <a:defRPr sz="8400">
                <a:solidFill>
                  <a:schemeClr val="tx1">
                    <a:tint val="75000"/>
                  </a:schemeClr>
                </a:solidFill>
              </a:defRPr>
            </a:lvl2pPr>
            <a:lvl3pPr marL="3840480" indent="0">
              <a:buNone/>
              <a:defRPr sz="7560">
                <a:solidFill>
                  <a:schemeClr val="tx1">
                    <a:tint val="75000"/>
                  </a:schemeClr>
                </a:solidFill>
              </a:defRPr>
            </a:lvl3pPr>
            <a:lvl4pPr marL="5760720" indent="0">
              <a:buNone/>
              <a:defRPr sz="6720">
                <a:solidFill>
                  <a:schemeClr val="tx1">
                    <a:tint val="75000"/>
                  </a:schemeClr>
                </a:solidFill>
              </a:defRPr>
            </a:lvl4pPr>
            <a:lvl5pPr marL="7680960" indent="0">
              <a:buNone/>
              <a:defRPr sz="6720">
                <a:solidFill>
                  <a:schemeClr val="tx1">
                    <a:tint val="75000"/>
                  </a:schemeClr>
                </a:solidFill>
              </a:defRPr>
            </a:lvl5pPr>
            <a:lvl6pPr marL="9601200" indent="0">
              <a:buNone/>
              <a:defRPr sz="6720">
                <a:solidFill>
                  <a:schemeClr val="tx1">
                    <a:tint val="75000"/>
                  </a:schemeClr>
                </a:solidFill>
              </a:defRPr>
            </a:lvl6pPr>
            <a:lvl7pPr marL="11521440" indent="0">
              <a:buNone/>
              <a:defRPr sz="6720">
                <a:solidFill>
                  <a:schemeClr val="tx1">
                    <a:tint val="75000"/>
                  </a:schemeClr>
                </a:solidFill>
              </a:defRPr>
            </a:lvl7pPr>
            <a:lvl8pPr marL="13441680" indent="0">
              <a:buNone/>
              <a:defRPr sz="6720">
                <a:solidFill>
                  <a:schemeClr val="tx1">
                    <a:tint val="75000"/>
                  </a:schemeClr>
                </a:solidFill>
              </a:defRPr>
            </a:lvl8pPr>
            <a:lvl9pPr marL="1536192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580593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C03D7F-B796-4B92-B0C7-6D4C9CC8C787}"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24818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C03D7F-B796-4B92-B0C7-6D4C9CC8C787}"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23807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C03D7F-B796-4B92-B0C7-6D4C9CC8C787}"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992770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03D7F-B796-4B92-B0C7-6D4C9CC8C787}" type="datetimeFigureOut">
              <a:rPr lang="en-US" smtClean="0"/>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97709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65655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368644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234349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5729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75000"/>
                  </a:schemeClr>
                </a:solidFill>
              </a:defRPr>
            </a:lvl1pPr>
          </a:lstStyle>
          <a:p>
            <a:fld id="{41C03D7F-B796-4B92-B0C7-6D4C9CC8C787}" type="datetimeFigureOut">
              <a:rPr lang="en-US" smtClean="0"/>
              <a:t>4/2/2026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75000"/>
                  </a:schemeClr>
                </a:solidFill>
              </a:defRPr>
            </a:lvl1pPr>
          </a:lstStyle>
          <a:p>
            <a:fld id="{93FD920E-2A97-48E1-B2D4-DF17E46EF288}" type="slidenum">
              <a:rPr lang="en-US" smtClean="0"/>
              <a:t>‹#›</a:t>
            </a:fld>
            <a:endParaRPr lang="en-US"/>
          </a:p>
        </p:txBody>
      </p:sp>
    </p:spTree>
    <p:extLst>
      <p:ext uri="{BB962C8B-B14F-4D97-AF65-F5344CB8AC3E}">
        <p14:creationId xmlns:p14="http://schemas.microsoft.com/office/powerpoint/2010/main" val="211420943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9B74C595-15C2-AF6D-5D76-BAC1B3125084}"/>
              </a:ext>
            </a:extLst>
          </p:cNvPr>
          <p:cNvPicPr>
            <a:picLocks noChangeAspect="1"/>
          </p:cNvPicPr>
          <p:nvPr/>
        </p:nvPicPr>
        <p:blipFill>
          <a:blip r:embed="rId3"/>
          <a:srcRect t="13163" b="66623"/>
          <a:stretch>
            <a:fillRect/>
          </a:stretch>
        </p:blipFill>
        <p:spPr>
          <a:xfrm>
            <a:off x="18781836" y="34088732"/>
            <a:ext cx="8071550" cy="3547442"/>
          </a:xfrm>
          <a:prstGeom prst="rect">
            <a:avLst/>
          </a:prstGeom>
        </p:spPr>
      </p:pic>
      <p:pic>
        <p:nvPicPr>
          <p:cNvPr id="24" name="Picture 23">
            <a:extLst>
              <a:ext uri="{FF2B5EF4-FFF2-40B4-BE49-F238E27FC236}">
                <a16:creationId xmlns:a16="http://schemas.microsoft.com/office/drawing/2014/main" id="{A586FCFE-6913-BB76-4024-FCA2C2941E25}"/>
              </a:ext>
            </a:extLst>
          </p:cNvPr>
          <p:cNvPicPr>
            <a:picLocks noChangeAspect="1"/>
          </p:cNvPicPr>
          <p:nvPr/>
        </p:nvPicPr>
        <p:blipFill>
          <a:blip r:embed="rId4"/>
          <a:srcRect t="13552" b="16070"/>
          <a:stretch>
            <a:fillRect/>
          </a:stretch>
        </p:blipFill>
        <p:spPr>
          <a:xfrm>
            <a:off x="18781837" y="21738309"/>
            <a:ext cx="8071549" cy="12350423"/>
          </a:xfrm>
          <a:prstGeom prst="rect">
            <a:avLst/>
          </a:prstGeom>
        </p:spPr>
      </p:pic>
      <p:sp>
        <p:nvSpPr>
          <p:cNvPr id="16" name="TextBox 15"/>
          <p:cNvSpPr txBox="1"/>
          <p:nvPr/>
        </p:nvSpPr>
        <p:spPr>
          <a:xfrm>
            <a:off x="1371600" y="7315200"/>
            <a:ext cx="7543800" cy="12895838"/>
          </a:xfrm>
          <a:prstGeom prst="rect">
            <a:avLst/>
          </a:prstGeom>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3200" dirty="0">
                <a:latin typeface="Calibri"/>
                <a:ea typeface="Calibri"/>
                <a:cs typeface="Calibri"/>
              </a:rPr>
              <a:t>Group projects are hard. It can be difficult to track who is doing what and to cross-reference multiple sources of material from the start to the finish. This is where Blueprint comes in. Blueprint is a task management web application designed for as few as one person to as many as ten or twenty people. This is not an app for large corporations. It's not meant to be complicated. Blueprint is designed to be simple and easy to use, with an intuitive user interface that users will find enjoyable and encouraging as they work together to accomplish their goal. The app itself features a calendar to track due dates and compare user schedules, a task list with priorities from not important to major, and the ability to assign users to tasks while showing each user’s progress and the overall project completion as a whole. The goal of this project is to provide users, primarily students, with a simple, easy-to-use task management web application to tackle group projects and excel academically in their college careers as they work alongside one another. </a:t>
            </a:r>
          </a:p>
        </p:txBody>
      </p:sp>
      <p:sp>
        <p:nvSpPr>
          <p:cNvPr id="42" name="TextBox 41"/>
          <p:cNvSpPr txBox="1"/>
          <p:nvPr/>
        </p:nvSpPr>
        <p:spPr>
          <a:xfrm>
            <a:off x="1371600" y="6400800"/>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Abstract</a:t>
            </a:r>
          </a:p>
        </p:txBody>
      </p:sp>
      <p:sp>
        <p:nvSpPr>
          <p:cNvPr id="9" name="TextBox 8"/>
          <p:cNvSpPr txBox="1"/>
          <p:nvPr/>
        </p:nvSpPr>
        <p:spPr>
          <a:xfrm>
            <a:off x="7772400" y="914400"/>
            <a:ext cx="22860000" cy="1446550"/>
          </a:xfrm>
          <a:prstGeom prst="rect">
            <a:avLst/>
          </a:prstGeom>
          <a:solidFill>
            <a:schemeClr val="bg1"/>
          </a:solidFill>
        </p:spPr>
        <p:txBody>
          <a:bodyPr wrap="square" lIns="91440" tIns="45720" rIns="91440" bIns="45720" rtlCol="0" anchor="t">
            <a:spAutoFit/>
          </a:bodyPr>
          <a:lstStyle/>
          <a:p>
            <a:pPr algn="ctr"/>
            <a:r>
              <a:rPr lang="en-US" sz="8800" b="1" dirty="0">
                <a:solidFill>
                  <a:srgbClr val="BB1C3F"/>
                </a:solidFill>
              </a:rPr>
              <a:t>Blueprint</a:t>
            </a:r>
            <a:endParaRPr lang="en-US" dirty="0"/>
          </a:p>
        </p:txBody>
      </p:sp>
      <p:sp>
        <p:nvSpPr>
          <p:cNvPr id="11" name="TextBox 10"/>
          <p:cNvSpPr txBox="1"/>
          <p:nvPr/>
        </p:nvSpPr>
        <p:spPr>
          <a:xfrm>
            <a:off x="7772400" y="2543144"/>
            <a:ext cx="22860000" cy="923330"/>
          </a:xfrm>
          <a:prstGeom prst="rect">
            <a:avLst/>
          </a:prstGeom>
          <a:noFill/>
        </p:spPr>
        <p:txBody>
          <a:bodyPr wrap="square" lIns="91440" tIns="45720" rIns="91440" bIns="45720" rtlCol="0" anchor="t">
            <a:spAutoFit/>
          </a:bodyPr>
          <a:lstStyle/>
          <a:p>
            <a:pPr algn="ctr"/>
            <a:r>
              <a:rPr lang="en-US" sz="5400" dirty="0"/>
              <a:t>Isaac Trejo Mendoza, Jacob McPherson, Jeongha Park, Obadiah Sieg</a:t>
            </a:r>
          </a:p>
        </p:txBody>
      </p:sp>
      <p:sp>
        <p:nvSpPr>
          <p:cNvPr id="33" name="TextBox 32">
            <a:extLst>
              <a:ext uri="{FF2B5EF4-FFF2-40B4-BE49-F238E27FC236}">
                <a16:creationId xmlns:a16="http://schemas.microsoft.com/office/drawing/2014/main" id="{131E4EA6-E914-104F-AF0A-B617E4CD864C}"/>
              </a:ext>
            </a:extLst>
          </p:cNvPr>
          <p:cNvSpPr txBox="1"/>
          <p:nvPr/>
        </p:nvSpPr>
        <p:spPr>
          <a:xfrm>
            <a:off x="7772400" y="3730135"/>
            <a:ext cx="22860000" cy="923330"/>
          </a:xfrm>
          <a:prstGeom prst="rect">
            <a:avLst/>
          </a:prstGeom>
          <a:noFill/>
        </p:spPr>
        <p:txBody>
          <a:bodyPr wrap="square" lIns="91440" tIns="45720" rIns="91440" bIns="45720" rtlCol="0" anchor="t">
            <a:spAutoFit/>
          </a:bodyPr>
          <a:lstStyle/>
          <a:p>
            <a:pPr algn="ctr"/>
            <a:r>
              <a:rPr lang="en-US" sz="5400" dirty="0"/>
              <a:t>Department Of Computer Science and Information Technology</a:t>
            </a:r>
          </a:p>
        </p:txBody>
      </p:sp>
      <p:pic>
        <p:nvPicPr>
          <p:cNvPr id="19" name="Picture 18" descr="Logo&#10;&#10;Description automatically generated">
            <a:extLst>
              <a:ext uri="{FF2B5EF4-FFF2-40B4-BE49-F238E27FC236}">
                <a16:creationId xmlns:a16="http://schemas.microsoft.com/office/drawing/2014/main" id="{57AC0E8A-34ED-EB42-BEC4-C70D0F19E8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86329" y="1176468"/>
            <a:ext cx="6126480" cy="3658870"/>
          </a:xfrm>
          <a:prstGeom prst="rect">
            <a:avLst/>
          </a:prstGeom>
        </p:spPr>
      </p:pic>
      <p:sp>
        <p:nvSpPr>
          <p:cNvPr id="53" name="TextBox 52">
            <a:extLst>
              <a:ext uri="{FF2B5EF4-FFF2-40B4-BE49-F238E27FC236}">
                <a16:creationId xmlns:a16="http://schemas.microsoft.com/office/drawing/2014/main" id="{9ADEE2E9-7AD4-AF4A-A8DE-2DD6E398169D}"/>
              </a:ext>
            </a:extLst>
          </p:cNvPr>
          <p:cNvSpPr txBox="1"/>
          <p:nvPr/>
        </p:nvSpPr>
        <p:spPr>
          <a:xfrm>
            <a:off x="15430500" y="6322695"/>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Design</a:t>
            </a:r>
          </a:p>
        </p:txBody>
      </p:sp>
      <p:sp>
        <p:nvSpPr>
          <p:cNvPr id="54" name="TextBox 53">
            <a:extLst>
              <a:ext uri="{FF2B5EF4-FFF2-40B4-BE49-F238E27FC236}">
                <a16:creationId xmlns:a16="http://schemas.microsoft.com/office/drawing/2014/main" id="{D25BFCBA-8F53-DD46-A2ED-0F4416500F31}"/>
              </a:ext>
            </a:extLst>
          </p:cNvPr>
          <p:cNvSpPr txBox="1"/>
          <p:nvPr/>
        </p:nvSpPr>
        <p:spPr>
          <a:xfrm>
            <a:off x="29489400" y="7278624"/>
            <a:ext cx="7543800" cy="19297590"/>
          </a:xfrm>
          <a:prstGeom prst="rect">
            <a:avLst/>
          </a:prstGeom>
          <a:ln>
            <a:solidFill>
              <a:schemeClr val="tx1">
                <a:lumMod val="95000"/>
                <a:lumOff val="5000"/>
              </a:schemeClr>
            </a:solidFill>
          </a:ln>
          <a:effectLst/>
        </p:spPr>
        <p:style>
          <a:lnRef idx="2">
            <a:schemeClr val="dk1"/>
          </a:lnRef>
          <a:fillRef idx="1">
            <a:schemeClr val="lt1"/>
          </a:fillRef>
          <a:effectRef idx="0">
            <a:schemeClr val="dk1"/>
          </a:effectRef>
          <a:fontRef idx="minor">
            <a:schemeClr val="dk1"/>
          </a:fontRef>
        </p:style>
        <p:txBody>
          <a:bodyPr wrap="square" rtlCol="0">
            <a:noAutofit/>
          </a:bodyPr>
          <a:lstStyle/>
          <a:p>
            <a:pPr algn="just"/>
            <a:r>
              <a:rPr lang="en-US" sz="3200" dirty="0"/>
              <a:t>Given enough time, Blueprint will not only be a simple, efficient web application for group projects, but it will also provide the motivation and encouragement students and others need to complete their projects via incentives such as special titles, user avatars, and pets that the users can earn with the experience they gain from every task completed. In a sense, we seek to “gamify” the group project experience to make it more fun and engaging, helping keep their project moving forward. Furthermore, we would like to add a functional chatbot that allows users to talk, seek guidance, and ultimately receive the advice they need to complete their project, so Blueprint can serve as the “one-stop shop” users are truly looking for. We would also like to provide more innovative tools such as advanced analytics and predictive scheduling so users can automatically gain the best times for their group to meet by simply inputting their schedules, the ability to integrate other sources the users might use such as GitHub, a collaborative white board or “Canvas Mode” the users can use to draw out plans and ideas for their project over a zoom call, and an enhanced resource management system that would allow the user to track the hardware for their projects, budget constraints, and gain a better overall view of their project. All of this may seem optimistic, but it would greatly encourage users, especially students, to engage with one another in an ever-disengaging world, where people communicate tonelessly through email, text messages, and group chats. With Blueprint, users will finally know how to complete their projects.</a:t>
            </a:r>
          </a:p>
        </p:txBody>
      </p:sp>
      <p:sp>
        <p:nvSpPr>
          <p:cNvPr id="55" name="TextBox 54">
            <a:extLst>
              <a:ext uri="{FF2B5EF4-FFF2-40B4-BE49-F238E27FC236}">
                <a16:creationId xmlns:a16="http://schemas.microsoft.com/office/drawing/2014/main" id="{4168701F-1D5B-6345-99A6-4CEE0D810E8D}"/>
              </a:ext>
            </a:extLst>
          </p:cNvPr>
          <p:cNvSpPr txBox="1"/>
          <p:nvPr/>
        </p:nvSpPr>
        <p:spPr>
          <a:xfrm>
            <a:off x="29489400" y="6322695"/>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Future Work</a:t>
            </a:r>
          </a:p>
        </p:txBody>
      </p:sp>
      <p:sp>
        <p:nvSpPr>
          <p:cNvPr id="58" name="TextBox 57">
            <a:extLst>
              <a:ext uri="{FF2B5EF4-FFF2-40B4-BE49-F238E27FC236}">
                <a16:creationId xmlns:a16="http://schemas.microsoft.com/office/drawing/2014/main" id="{B4B17A3E-B8F5-AD47-BF90-C798FB9A5795}"/>
              </a:ext>
            </a:extLst>
          </p:cNvPr>
          <p:cNvSpPr txBox="1"/>
          <p:nvPr/>
        </p:nvSpPr>
        <p:spPr>
          <a:xfrm>
            <a:off x="1371600" y="20477169"/>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Background</a:t>
            </a:r>
          </a:p>
        </p:txBody>
      </p:sp>
      <p:sp>
        <p:nvSpPr>
          <p:cNvPr id="62" name="TextBox 61">
            <a:extLst>
              <a:ext uri="{FF2B5EF4-FFF2-40B4-BE49-F238E27FC236}">
                <a16:creationId xmlns:a16="http://schemas.microsoft.com/office/drawing/2014/main" id="{23E96BFD-241F-9947-B610-650FA9088939}"/>
              </a:ext>
            </a:extLst>
          </p:cNvPr>
          <p:cNvSpPr txBox="1"/>
          <p:nvPr/>
        </p:nvSpPr>
        <p:spPr>
          <a:xfrm>
            <a:off x="1371600" y="21574297"/>
            <a:ext cx="7543800" cy="15331196"/>
          </a:xfrm>
          <a:prstGeom prst="rect">
            <a:avLst/>
          </a:prstGeom>
        </p:spPr>
        <p:style>
          <a:lnRef idx="2">
            <a:schemeClr val="dk1"/>
          </a:lnRef>
          <a:fillRef idx="1">
            <a:schemeClr val="lt1"/>
          </a:fillRef>
          <a:effectRef idx="0">
            <a:schemeClr val="dk1"/>
          </a:effectRef>
          <a:fontRef idx="minor">
            <a:schemeClr val="dk1"/>
          </a:fontRef>
        </p:style>
        <p:txBody>
          <a:bodyPr wrap="square" rtlCol="0">
            <a:noAutofit/>
          </a:bodyPr>
          <a:lstStyle/>
          <a:p>
            <a:pPr algn="just"/>
            <a:r>
              <a:rPr lang="en-US" sz="3200" dirty="0"/>
              <a:t>Blueprint was conceived by the names above as a solution to the usually frustrating and fragmented group projects that almost everyone in the academic world knows and loves. There are many group assignment apps out there, but many of them are complicated and difficult to use without the proper training. Moreover, they are usually far more complicated than what the average person needs. Therefore, we sought out to create a simple and easy-to-use web application that provides all the tools one person could need to create a group project, while keeping it highly flexible and responsible for what the user needs by providing multiple tools, such as the calendar, completion rate of the project, and task list mentioned above. This project is not just about giving users another way to list all their tasks and check a box beside each one as they complete it. Blueprint will provide users with a bird’s-eye view of their project, showing exactly what they need to do and when. Originally, this project was simply a way for each of us to see when it was best for us to meet. However, we quickly realized this was a recurring theme for everyone when they have to start a group project, so we thought the best project for this Innovation Experience would be Blueprint.</a:t>
            </a:r>
          </a:p>
        </p:txBody>
      </p:sp>
      <p:sp>
        <p:nvSpPr>
          <p:cNvPr id="67" name="TextBox 66">
            <a:extLst>
              <a:ext uri="{FF2B5EF4-FFF2-40B4-BE49-F238E27FC236}">
                <a16:creationId xmlns:a16="http://schemas.microsoft.com/office/drawing/2014/main" id="{8E91F93C-A7BD-B64A-849B-B4DA616BE3FB}"/>
              </a:ext>
            </a:extLst>
          </p:cNvPr>
          <p:cNvSpPr txBox="1"/>
          <p:nvPr/>
        </p:nvSpPr>
        <p:spPr>
          <a:xfrm>
            <a:off x="29489400" y="26786201"/>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References</a:t>
            </a:r>
          </a:p>
        </p:txBody>
      </p:sp>
      <p:sp>
        <p:nvSpPr>
          <p:cNvPr id="71" name="TextBox 70">
            <a:extLst>
              <a:ext uri="{FF2B5EF4-FFF2-40B4-BE49-F238E27FC236}">
                <a16:creationId xmlns:a16="http://schemas.microsoft.com/office/drawing/2014/main" id="{91F0780E-0709-FD48-B93E-B99DCFE28DBE}"/>
              </a:ext>
            </a:extLst>
          </p:cNvPr>
          <p:cNvSpPr txBox="1">
            <a:spLocks/>
          </p:cNvSpPr>
          <p:nvPr/>
        </p:nvSpPr>
        <p:spPr>
          <a:xfrm>
            <a:off x="29489400" y="27697554"/>
            <a:ext cx="7543800" cy="4529087"/>
          </a:xfrm>
          <a:prstGeom prst="rect">
            <a:avLst/>
          </a:prstGeom>
        </p:spPr>
        <p:style>
          <a:lnRef idx="2">
            <a:schemeClr val="dk1"/>
          </a:lnRef>
          <a:fillRef idx="1">
            <a:schemeClr val="lt1"/>
          </a:fillRef>
          <a:effectRef idx="0">
            <a:schemeClr val="dk1"/>
          </a:effectRef>
          <a:fontRef idx="minor">
            <a:schemeClr val="dk1"/>
          </a:fontRef>
        </p:style>
        <p:txBody>
          <a:bodyPr wrap="square" lIns="91440" tIns="45720" rIns="91440" bIns="45720" rtlCol="0" anchor="t">
            <a:noAutofit/>
          </a:bodyPr>
          <a:lstStyle/>
          <a:p>
            <a:r>
              <a:rPr lang="en-US" sz="3200" dirty="0">
                <a:solidFill>
                  <a:schemeClr val="tx1">
                    <a:lumMod val="95000"/>
                    <a:lumOff val="5000"/>
                  </a:schemeClr>
                </a:solidFill>
                <a:ea typeface="+mn-lt"/>
                <a:cs typeface="+mn-lt"/>
              </a:rPr>
              <a:t>1. </a:t>
            </a:r>
            <a:r>
              <a:rPr lang="en-US" sz="3200" i="1" dirty="0">
                <a:solidFill>
                  <a:schemeClr val="tx1">
                    <a:lumMod val="95000"/>
                    <a:lumOff val="5000"/>
                  </a:schemeClr>
                </a:solidFill>
                <a:ea typeface="+mn-lt"/>
                <a:cs typeface="+mn-lt"/>
              </a:rPr>
              <a:t>Vite</a:t>
            </a:r>
            <a:r>
              <a:rPr lang="en-US" sz="3200" dirty="0">
                <a:solidFill>
                  <a:schemeClr val="tx1">
                    <a:lumMod val="95000"/>
                    <a:lumOff val="5000"/>
                  </a:schemeClr>
                </a:solidFill>
                <a:ea typeface="+mn-lt"/>
                <a:cs typeface="+mn-lt"/>
              </a:rPr>
              <a:t>. Edited by Evan You, 2024, https://vite.dev. Accessed 31 Mar. 2026. </a:t>
            </a:r>
            <a:br>
              <a:rPr lang="en-US" sz="3200" dirty="0">
                <a:solidFill>
                  <a:schemeClr val="tx1">
                    <a:lumMod val="95000"/>
                    <a:lumOff val="5000"/>
                  </a:schemeClr>
                </a:solidFill>
                <a:ea typeface="+mn-lt"/>
                <a:cs typeface="+mn-lt"/>
              </a:rPr>
            </a:br>
            <a:r>
              <a:rPr lang="en-US" sz="3200" dirty="0">
                <a:solidFill>
                  <a:schemeClr val="tx1">
                    <a:lumMod val="95000"/>
                    <a:lumOff val="5000"/>
                  </a:schemeClr>
                </a:solidFill>
                <a:ea typeface="+mn-lt"/>
                <a:cs typeface="+mn-lt"/>
              </a:rPr>
              <a:t>2. </a:t>
            </a:r>
            <a:r>
              <a:rPr lang="en-US" sz="3200" i="1" dirty="0">
                <a:solidFill>
                  <a:schemeClr val="tx1">
                    <a:lumMod val="95000"/>
                    <a:lumOff val="5000"/>
                  </a:schemeClr>
                </a:solidFill>
                <a:ea typeface="+mn-lt"/>
                <a:cs typeface="+mn-lt"/>
              </a:rPr>
              <a:t>React</a:t>
            </a:r>
            <a:r>
              <a:rPr lang="en-US" sz="3200" dirty="0">
                <a:solidFill>
                  <a:schemeClr val="tx1">
                    <a:lumMod val="95000"/>
                    <a:lumOff val="5000"/>
                  </a:schemeClr>
                </a:solidFill>
                <a:ea typeface="+mn-lt"/>
                <a:cs typeface="+mn-lt"/>
              </a:rPr>
              <a:t>. Meta Platforms, 2024, https://react.dev. Accessed 31 Mar. 2026. </a:t>
            </a:r>
          </a:p>
          <a:p>
            <a:r>
              <a:rPr lang="en-US" sz="3200" dirty="0">
                <a:solidFill>
                  <a:schemeClr val="tx1">
                    <a:lumMod val="95000"/>
                    <a:lumOff val="5000"/>
                  </a:schemeClr>
                </a:solidFill>
                <a:ea typeface="+mn-lt"/>
                <a:cs typeface="+mn-lt"/>
              </a:rPr>
              <a:t>3. </a:t>
            </a:r>
            <a:r>
              <a:rPr lang="en-US" sz="3200" i="1" dirty="0" err="1">
                <a:solidFill>
                  <a:schemeClr val="tx1">
                    <a:lumMod val="95000"/>
                    <a:lumOff val="5000"/>
                  </a:schemeClr>
                </a:solidFill>
                <a:ea typeface="+mn-lt"/>
                <a:cs typeface="+mn-lt"/>
              </a:rPr>
              <a:t>Supabase</a:t>
            </a:r>
            <a:r>
              <a:rPr lang="en-US" sz="3200" dirty="0">
                <a:solidFill>
                  <a:schemeClr val="tx1">
                    <a:lumMod val="95000"/>
                    <a:lumOff val="5000"/>
                  </a:schemeClr>
                </a:solidFill>
                <a:ea typeface="+mn-lt"/>
                <a:cs typeface="+mn-lt"/>
              </a:rPr>
              <a:t>. </a:t>
            </a:r>
            <a:r>
              <a:rPr lang="en-US" sz="3200" dirty="0" err="1">
                <a:solidFill>
                  <a:schemeClr val="tx1">
                    <a:lumMod val="95000"/>
                    <a:lumOff val="5000"/>
                  </a:schemeClr>
                </a:solidFill>
                <a:ea typeface="+mn-lt"/>
                <a:cs typeface="+mn-lt"/>
              </a:rPr>
              <a:t>Supabase</a:t>
            </a:r>
            <a:r>
              <a:rPr lang="en-US" sz="3200" dirty="0">
                <a:solidFill>
                  <a:schemeClr val="tx1">
                    <a:lumMod val="95000"/>
                    <a:lumOff val="5000"/>
                  </a:schemeClr>
                </a:solidFill>
                <a:ea typeface="+mn-lt"/>
                <a:cs typeface="+mn-lt"/>
              </a:rPr>
              <a:t>, Inc., 2026, https://supabase.com. Accessed 31 Mar. 2026. </a:t>
            </a:r>
          </a:p>
          <a:p>
            <a:r>
              <a:rPr lang="en-US" sz="3200" dirty="0">
                <a:solidFill>
                  <a:schemeClr val="tx1">
                    <a:lumMod val="95000"/>
                    <a:lumOff val="5000"/>
                  </a:schemeClr>
                </a:solidFill>
                <a:ea typeface="+mn-lt"/>
                <a:cs typeface="+mn-lt"/>
              </a:rPr>
              <a:t>4. </a:t>
            </a:r>
            <a:r>
              <a:rPr lang="en-US" sz="3200" i="1" dirty="0" err="1">
                <a:solidFill>
                  <a:schemeClr val="tx1">
                    <a:lumMod val="95000"/>
                    <a:lumOff val="5000"/>
                  </a:schemeClr>
                </a:solidFill>
                <a:ea typeface="+mn-lt"/>
                <a:cs typeface="+mn-lt"/>
              </a:rPr>
              <a:t>Vercel</a:t>
            </a:r>
            <a:r>
              <a:rPr lang="en-US" sz="3200" dirty="0">
                <a:solidFill>
                  <a:schemeClr val="tx1">
                    <a:lumMod val="95000"/>
                    <a:lumOff val="5000"/>
                  </a:schemeClr>
                </a:solidFill>
                <a:ea typeface="+mn-lt"/>
                <a:cs typeface="+mn-lt"/>
              </a:rPr>
              <a:t>. </a:t>
            </a:r>
            <a:r>
              <a:rPr lang="en-US" sz="3200" dirty="0" err="1">
                <a:solidFill>
                  <a:schemeClr val="tx1">
                    <a:lumMod val="95000"/>
                    <a:lumOff val="5000"/>
                  </a:schemeClr>
                </a:solidFill>
                <a:ea typeface="+mn-lt"/>
                <a:cs typeface="+mn-lt"/>
              </a:rPr>
              <a:t>Vercel</a:t>
            </a:r>
            <a:r>
              <a:rPr lang="en-US" sz="3200" dirty="0">
                <a:solidFill>
                  <a:schemeClr val="tx1">
                    <a:lumMod val="95000"/>
                    <a:lumOff val="5000"/>
                  </a:schemeClr>
                </a:solidFill>
                <a:ea typeface="+mn-lt"/>
                <a:cs typeface="+mn-lt"/>
              </a:rPr>
              <a:t> Inc., 2026, https://vercel.com. Accessed 31 Mar. 2026.</a:t>
            </a:r>
          </a:p>
        </p:txBody>
      </p:sp>
      <p:sp>
        <p:nvSpPr>
          <p:cNvPr id="72" name="TextBox 71">
            <a:extLst>
              <a:ext uri="{FF2B5EF4-FFF2-40B4-BE49-F238E27FC236}">
                <a16:creationId xmlns:a16="http://schemas.microsoft.com/office/drawing/2014/main" id="{5E014FC1-89AE-2C42-B656-71AC274FF794}"/>
              </a:ext>
            </a:extLst>
          </p:cNvPr>
          <p:cNvSpPr txBox="1"/>
          <p:nvPr/>
        </p:nvSpPr>
        <p:spPr>
          <a:xfrm>
            <a:off x="29489400" y="32434309"/>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Acknowledgements</a:t>
            </a:r>
          </a:p>
        </p:txBody>
      </p:sp>
      <p:sp>
        <p:nvSpPr>
          <p:cNvPr id="74" name="TextBox 73">
            <a:extLst>
              <a:ext uri="{FF2B5EF4-FFF2-40B4-BE49-F238E27FC236}">
                <a16:creationId xmlns:a16="http://schemas.microsoft.com/office/drawing/2014/main" id="{D3B353B1-5EC5-9B40-8654-50B3A5F38B70}"/>
              </a:ext>
            </a:extLst>
          </p:cNvPr>
          <p:cNvSpPr txBox="1"/>
          <p:nvPr/>
        </p:nvSpPr>
        <p:spPr>
          <a:xfrm>
            <a:off x="29489400" y="33366063"/>
            <a:ext cx="7543800" cy="35394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dirty="0"/>
              <a:t>We would like to thank Dr. Karen Meisch for her support of the students in the College of Science, Technology, Engineering &amp; Mathematics, along with Dr. Leong Lee for his support of the students in the Department of Computer Science and Information Technology.</a:t>
            </a:r>
          </a:p>
        </p:txBody>
      </p:sp>
      <p:cxnSp>
        <p:nvCxnSpPr>
          <p:cNvPr id="78" name="Straight Connector 77">
            <a:extLst>
              <a:ext uri="{FF2B5EF4-FFF2-40B4-BE49-F238E27FC236}">
                <a16:creationId xmlns:a16="http://schemas.microsoft.com/office/drawing/2014/main" id="{13D3A641-3556-174E-81A8-FB2A256E9AF5}"/>
              </a:ext>
            </a:extLst>
          </p:cNvPr>
          <p:cNvCxnSpPr/>
          <p:nvPr/>
        </p:nvCxnSpPr>
        <p:spPr>
          <a:xfrm>
            <a:off x="1371600" y="5715000"/>
            <a:ext cx="356616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E1FD1E8-99C9-1DD9-4F6A-77B2B5FABF7A}"/>
              </a:ext>
            </a:extLst>
          </p:cNvPr>
          <p:cNvSpPr txBox="1"/>
          <p:nvPr/>
        </p:nvSpPr>
        <p:spPr>
          <a:xfrm>
            <a:off x="9141215" y="20454428"/>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pPr algn="ctr"/>
            <a:r>
              <a:rPr lang="en-US" sz="4800" b="1" dirty="0">
                <a:solidFill>
                  <a:srgbClr val="BB1C3F"/>
                </a:solidFill>
              </a:rPr>
              <a:t>Technology</a:t>
            </a:r>
          </a:p>
        </p:txBody>
      </p:sp>
      <p:pic>
        <p:nvPicPr>
          <p:cNvPr id="6" name="Picture 5" descr="A blue square with white lines&#10;&#10;AI-generated content may be incorrect.">
            <a:extLst>
              <a:ext uri="{FF2B5EF4-FFF2-40B4-BE49-F238E27FC236}">
                <a16:creationId xmlns:a16="http://schemas.microsoft.com/office/drawing/2014/main" id="{D1DFCDDE-89AC-593E-79B1-B649E9808CE7}"/>
              </a:ext>
            </a:extLst>
          </p:cNvPr>
          <p:cNvPicPr>
            <a:picLocks noChangeAspect="1"/>
          </p:cNvPicPr>
          <p:nvPr/>
        </p:nvPicPr>
        <p:blipFill>
          <a:blip r:embed="rId6"/>
          <a:stretch>
            <a:fillRect/>
          </a:stretch>
        </p:blipFill>
        <p:spPr>
          <a:xfrm>
            <a:off x="32003966" y="914399"/>
            <a:ext cx="2454816" cy="2329725"/>
          </a:xfrm>
          <a:prstGeom prst="rect">
            <a:avLst/>
          </a:prstGeom>
          <a:ln>
            <a:noFill/>
          </a:ln>
        </p:spPr>
      </p:pic>
      <p:pic>
        <p:nvPicPr>
          <p:cNvPr id="8" name="Picture 7" descr="A black and white logo&#10;&#10;AI-generated content may be incorrect.">
            <a:extLst>
              <a:ext uri="{FF2B5EF4-FFF2-40B4-BE49-F238E27FC236}">
                <a16:creationId xmlns:a16="http://schemas.microsoft.com/office/drawing/2014/main" id="{9D547D92-E854-9DEA-58FB-9DF6BF266AA1}"/>
              </a:ext>
            </a:extLst>
          </p:cNvPr>
          <p:cNvPicPr>
            <a:picLocks noChangeAspect="1"/>
          </p:cNvPicPr>
          <p:nvPr/>
        </p:nvPicPr>
        <p:blipFill>
          <a:blip r:embed="rId7"/>
          <a:stretch>
            <a:fillRect/>
          </a:stretch>
        </p:blipFill>
        <p:spPr>
          <a:xfrm>
            <a:off x="30632400" y="3499223"/>
            <a:ext cx="5006057" cy="1332603"/>
          </a:xfrm>
          <a:prstGeom prst="rect">
            <a:avLst/>
          </a:prstGeom>
          <a:ln>
            <a:noFill/>
          </a:ln>
        </p:spPr>
      </p:pic>
      <p:sp>
        <p:nvSpPr>
          <p:cNvPr id="2" name="TextBox 1">
            <a:extLst>
              <a:ext uri="{FF2B5EF4-FFF2-40B4-BE49-F238E27FC236}">
                <a16:creationId xmlns:a16="http://schemas.microsoft.com/office/drawing/2014/main" id="{4443182A-99EE-5FF2-DB50-82282129ACAF}"/>
              </a:ext>
            </a:extLst>
          </p:cNvPr>
          <p:cNvSpPr txBox="1"/>
          <p:nvPr/>
        </p:nvSpPr>
        <p:spPr>
          <a:xfrm>
            <a:off x="16724671" y="11769213"/>
            <a:ext cx="4955458" cy="584775"/>
          </a:xfrm>
          <a:prstGeom prst="rect">
            <a:avLst/>
          </a:prstGeom>
          <a:noFill/>
        </p:spPr>
        <p:txBody>
          <a:bodyPr wrap="square" rtlCol="0">
            <a:spAutoFit/>
          </a:bodyPr>
          <a:lstStyle/>
          <a:p>
            <a:r>
              <a:rPr lang="en-US" sz="3200" dirty="0"/>
              <a:t>[Insert image of dashboard]</a:t>
            </a:r>
          </a:p>
        </p:txBody>
      </p:sp>
      <p:pic>
        <p:nvPicPr>
          <p:cNvPr id="4" name="Picture 3">
            <a:extLst>
              <a:ext uri="{FF2B5EF4-FFF2-40B4-BE49-F238E27FC236}">
                <a16:creationId xmlns:a16="http://schemas.microsoft.com/office/drawing/2014/main" id="{D5E528F1-A72D-B125-3108-6D2A5F3FD248}"/>
              </a:ext>
            </a:extLst>
          </p:cNvPr>
          <p:cNvPicPr>
            <a:picLocks noChangeAspect="1"/>
          </p:cNvPicPr>
          <p:nvPr/>
        </p:nvPicPr>
        <p:blipFill>
          <a:blip r:embed="rId8">
            <a:extLst>
              <a:ext uri="{28A0092B-C50C-407E-A947-70E740481C1C}">
                <a14:useLocalDpi xmlns:a14="http://schemas.microsoft.com/office/drawing/2010/main" val="0"/>
              </a:ext>
            </a:extLst>
          </a:blip>
          <a:srcRect l="30381" t="15398" r="28217"/>
          <a:stretch>
            <a:fillRect/>
          </a:stretch>
        </p:blipFill>
        <p:spPr>
          <a:xfrm>
            <a:off x="11147471" y="21498717"/>
            <a:ext cx="3755951" cy="4007466"/>
          </a:xfrm>
          <a:prstGeom prst="rect">
            <a:avLst/>
          </a:prstGeom>
        </p:spPr>
      </p:pic>
      <p:pic>
        <p:nvPicPr>
          <p:cNvPr id="10" name="Picture 9">
            <a:extLst>
              <a:ext uri="{FF2B5EF4-FFF2-40B4-BE49-F238E27FC236}">
                <a16:creationId xmlns:a16="http://schemas.microsoft.com/office/drawing/2014/main" id="{C3B70219-4ACE-D88A-B5D9-1A3DBF2A452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760903" y="25506183"/>
            <a:ext cx="4529088" cy="4529088"/>
          </a:xfrm>
          <a:prstGeom prst="rect">
            <a:avLst/>
          </a:prstGeom>
        </p:spPr>
      </p:pic>
      <p:pic>
        <p:nvPicPr>
          <p:cNvPr id="13" name="Picture 12">
            <a:extLst>
              <a:ext uri="{FF2B5EF4-FFF2-40B4-BE49-F238E27FC236}">
                <a16:creationId xmlns:a16="http://schemas.microsoft.com/office/drawing/2014/main" id="{3D21494A-B50B-F3AC-9641-EE7AB840C785}"/>
              </a:ext>
            </a:extLst>
          </p:cNvPr>
          <p:cNvPicPr>
            <a:picLocks noChangeAspect="1"/>
          </p:cNvPicPr>
          <p:nvPr/>
        </p:nvPicPr>
        <p:blipFill>
          <a:blip r:embed="rId10">
            <a:extLst>
              <a:ext uri="{28A0092B-C50C-407E-A947-70E740481C1C}">
                <a14:useLocalDpi xmlns:a14="http://schemas.microsoft.com/office/drawing/2010/main" val="0"/>
              </a:ext>
            </a:extLst>
          </a:blip>
          <a:srcRect t="31401"/>
          <a:stretch>
            <a:fillRect/>
          </a:stretch>
        </p:blipFill>
        <p:spPr>
          <a:xfrm>
            <a:off x="9867567" y="30730512"/>
            <a:ext cx="6315761" cy="3249400"/>
          </a:xfrm>
          <a:prstGeom prst="rect">
            <a:avLst/>
          </a:prstGeom>
        </p:spPr>
      </p:pic>
      <p:pic>
        <p:nvPicPr>
          <p:cNvPr id="17" name="Picture 16">
            <a:extLst>
              <a:ext uri="{FF2B5EF4-FFF2-40B4-BE49-F238E27FC236}">
                <a16:creationId xmlns:a16="http://schemas.microsoft.com/office/drawing/2014/main" id="{5CE3CF1F-316D-7A79-BB13-234BE9156F5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867568" y="33348709"/>
            <a:ext cx="6315761" cy="4022538"/>
          </a:xfrm>
          <a:prstGeom prst="rect">
            <a:avLst/>
          </a:prstGeom>
        </p:spPr>
      </p:pic>
      <p:pic>
        <p:nvPicPr>
          <p:cNvPr id="7" name="Picture 6">
            <a:extLst>
              <a:ext uri="{FF2B5EF4-FFF2-40B4-BE49-F238E27FC236}">
                <a16:creationId xmlns:a16="http://schemas.microsoft.com/office/drawing/2014/main" id="{1E862218-3E25-B0CE-ED61-37B305B23EEA}"/>
              </a:ext>
            </a:extLst>
          </p:cNvPr>
          <p:cNvPicPr>
            <a:picLocks noChangeAspect="1"/>
          </p:cNvPicPr>
          <p:nvPr/>
        </p:nvPicPr>
        <p:blipFill>
          <a:blip r:embed="rId12"/>
          <a:srcRect l="8690" r="7166"/>
          <a:stretch>
            <a:fillRect/>
          </a:stretch>
        </p:blipFill>
        <p:spPr>
          <a:xfrm>
            <a:off x="9301664" y="7278624"/>
            <a:ext cx="19801471" cy="12896062"/>
          </a:xfrm>
          <a:prstGeom prst="rect">
            <a:avLst/>
          </a:prstGeom>
        </p:spPr>
      </p:pic>
      <p:pic>
        <p:nvPicPr>
          <p:cNvPr id="12" name="Picture 11" descr="A blue square with white lines&#10;&#10;AI-generated content may be incorrect.">
            <a:extLst>
              <a:ext uri="{FF2B5EF4-FFF2-40B4-BE49-F238E27FC236}">
                <a16:creationId xmlns:a16="http://schemas.microsoft.com/office/drawing/2014/main" id="{CB986120-8F88-6608-8B29-06E359F6DCC8}"/>
              </a:ext>
            </a:extLst>
          </p:cNvPr>
          <p:cNvPicPr>
            <a:picLocks noChangeAspect="1"/>
          </p:cNvPicPr>
          <p:nvPr/>
        </p:nvPicPr>
        <p:blipFill>
          <a:blip r:embed="rId6"/>
          <a:stretch>
            <a:fillRect/>
          </a:stretch>
        </p:blipFill>
        <p:spPr>
          <a:xfrm>
            <a:off x="9867568" y="7674288"/>
            <a:ext cx="726699" cy="689668"/>
          </a:xfrm>
          <a:prstGeom prst="rect">
            <a:avLst/>
          </a:prstGeom>
          <a:ln>
            <a:noFill/>
          </a:ln>
        </p:spPr>
      </p:pic>
      <p:pic>
        <p:nvPicPr>
          <p:cNvPr id="14" name="Picture 13" descr="A black and white logo&#10;&#10;AI-generated content may be incorrect.">
            <a:extLst>
              <a:ext uri="{FF2B5EF4-FFF2-40B4-BE49-F238E27FC236}">
                <a16:creationId xmlns:a16="http://schemas.microsoft.com/office/drawing/2014/main" id="{7C2F6FF6-E81E-02CB-599A-CBCB8B51A1B4}"/>
              </a:ext>
            </a:extLst>
          </p:cNvPr>
          <p:cNvPicPr>
            <a:picLocks noChangeAspect="1"/>
          </p:cNvPicPr>
          <p:nvPr/>
        </p:nvPicPr>
        <p:blipFill>
          <a:blip r:embed="rId7"/>
          <a:stretch>
            <a:fillRect/>
          </a:stretch>
        </p:blipFill>
        <p:spPr>
          <a:xfrm>
            <a:off x="10718416" y="7649257"/>
            <a:ext cx="3312253" cy="881715"/>
          </a:xfrm>
          <a:prstGeom prst="rect">
            <a:avLst/>
          </a:prstGeom>
          <a:ln>
            <a:noFill/>
          </a:ln>
        </p:spPr>
      </p:pic>
      <p:pic>
        <p:nvPicPr>
          <p:cNvPr id="29" name="Picture 28">
            <a:extLst>
              <a:ext uri="{FF2B5EF4-FFF2-40B4-BE49-F238E27FC236}">
                <a16:creationId xmlns:a16="http://schemas.microsoft.com/office/drawing/2014/main" id="{B7116A4A-AC68-76A0-D09B-AE197B8A1EC0}"/>
              </a:ext>
            </a:extLst>
          </p:cNvPr>
          <p:cNvPicPr>
            <a:picLocks noChangeAspect="1"/>
          </p:cNvPicPr>
          <p:nvPr/>
        </p:nvPicPr>
        <p:blipFill>
          <a:blip r:embed="rId13"/>
          <a:srcRect t="84879"/>
          <a:stretch>
            <a:fillRect/>
          </a:stretch>
        </p:blipFill>
        <p:spPr>
          <a:xfrm>
            <a:off x="18982642" y="34968901"/>
            <a:ext cx="7669937" cy="2521499"/>
          </a:xfrm>
          <a:prstGeom prst="rect">
            <a:avLst/>
          </a:prstGeom>
        </p:spPr>
      </p:pic>
      <p:sp>
        <p:nvSpPr>
          <p:cNvPr id="31" name="Oval 30">
            <a:extLst>
              <a:ext uri="{FF2B5EF4-FFF2-40B4-BE49-F238E27FC236}">
                <a16:creationId xmlns:a16="http://schemas.microsoft.com/office/drawing/2014/main" id="{6C5DD25E-80DD-93F7-62C4-DA2209E1663D}"/>
              </a:ext>
            </a:extLst>
          </p:cNvPr>
          <p:cNvSpPr/>
          <p:nvPr/>
        </p:nvSpPr>
        <p:spPr>
          <a:xfrm>
            <a:off x="18628138" y="37190017"/>
            <a:ext cx="574261" cy="54775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9583F39-4533-23B4-6740-421632F1B6F1}"/>
              </a:ext>
            </a:extLst>
          </p:cNvPr>
          <p:cNvSpPr/>
          <p:nvPr/>
        </p:nvSpPr>
        <p:spPr>
          <a:xfrm>
            <a:off x="26446922" y="37291617"/>
            <a:ext cx="574261" cy="54775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a:extLst>
              <a:ext uri="{FF2B5EF4-FFF2-40B4-BE49-F238E27FC236}">
                <a16:creationId xmlns:a16="http://schemas.microsoft.com/office/drawing/2014/main" id="{636CC1B2-BF42-5FB1-64D2-19C73ED9D22D}"/>
              </a:ext>
            </a:extLst>
          </p:cNvPr>
          <p:cNvPicPr>
            <a:picLocks noChangeAspect="1"/>
          </p:cNvPicPr>
          <p:nvPr/>
        </p:nvPicPr>
        <p:blipFill>
          <a:blip r:embed="rId13"/>
          <a:srcRect t="-169" b="94571"/>
          <a:stretch>
            <a:fillRect/>
          </a:stretch>
        </p:blipFill>
        <p:spPr>
          <a:xfrm>
            <a:off x="18937114" y="20949094"/>
            <a:ext cx="7798498" cy="949187"/>
          </a:xfrm>
          <a:prstGeom prst="rect">
            <a:avLst/>
          </a:prstGeom>
        </p:spPr>
      </p:pic>
      <p:pic>
        <p:nvPicPr>
          <p:cNvPr id="18" name="Picture 17">
            <a:extLst>
              <a:ext uri="{FF2B5EF4-FFF2-40B4-BE49-F238E27FC236}">
                <a16:creationId xmlns:a16="http://schemas.microsoft.com/office/drawing/2014/main" id="{7067F3A3-61B7-6561-F668-BD409C73279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8575689" y="20579989"/>
            <a:ext cx="8521348" cy="17319812"/>
          </a:xfrm>
          <a:prstGeom prst="rect">
            <a:avLst/>
          </a:prstGeom>
        </p:spPr>
      </p:pic>
      <p:sp>
        <p:nvSpPr>
          <p:cNvPr id="37" name="Rectangle 36">
            <a:extLst>
              <a:ext uri="{FF2B5EF4-FFF2-40B4-BE49-F238E27FC236}">
                <a16:creationId xmlns:a16="http://schemas.microsoft.com/office/drawing/2014/main" id="{B2E7ED12-2482-1611-84AE-D639E179617B}"/>
              </a:ext>
            </a:extLst>
          </p:cNvPr>
          <p:cNvSpPr/>
          <p:nvPr/>
        </p:nvSpPr>
        <p:spPr>
          <a:xfrm>
            <a:off x="20151969" y="22025987"/>
            <a:ext cx="2632668" cy="2813538"/>
          </a:xfrm>
          <a:prstGeom prst="rect">
            <a:avLst/>
          </a:prstGeom>
          <a:solidFill>
            <a:srgbClr val="F9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descr="A blue square with white lines&#10;&#10;AI-generated content may be incorrect.">
            <a:extLst>
              <a:ext uri="{FF2B5EF4-FFF2-40B4-BE49-F238E27FC236}">
                <a16:creationId xmlns:a16="http://schemas.microsoft.com/office/drawing/2014/main" id="{B5107969-4D3C-4CBD-7AF1-7A6E924C71A7}"/>
              </a:ext>
            </a:extLst>
          </p:cNvPr>
          <p:cNvPicPr>
            <a:picLocks noChangeAspect="1"/>
          </p:cNvPicPr>
          <p:nvPr/>
        </p:nvPicPr>
        <p:blipFill>
          <a:blip r:embed="rId6"/>
          <a:stretch>
            <a:fillRect/>
          </a:stretch>
        </p:blipFill>
        <p:spPr>
          <a:xfrm>
            <a:off x="19202399" y="22840702"/>
            <a:ext cx="917281" cy="870538"/>
          </a:xfrm>
          <a:prstGeom prst="rect">
            <a:avLst/>
          </a:prstGeom>
          <a:ln>
            <a:noFill/>
          </a:ln>
        </p:spPr>
      </p:pic>
      <p:pic>
        <p:nvPicPr>
          <p:cNvPr id="43" name="Picture 42">
            <a:extLst>
              <a:ext uri="{FF2B5EF4-FFF2-40B4-BE49-F238E27FC236}">
                <a16:creationId xmlns:a16="http://schemas.microsoft.com/office/drawing/2014/main" id="{1AC8510D-460B-74DF-822B-CA6A36FEA620}"/>
              </a:ext>
            </a:extLst>
          </p:cNvPr>
          <p:cNvPicPr>
            <a:picLocks noChangeAspect="1"/>
          </p:cNvPicPr>
          <p:nvPr/>
        </p:nvPicPr>
        <p:blipFill>
          <a:blip r:embed="rId15"/>
          <a:stretch>
            <a:fillRect/>
          </a:stretch>
        </p:blipFill>
        <p:spPr>
          <a:xfrm>
            <a:off x="20196706" y="22961643"/>
            <a:ext cx="2543194" cy="628655"/>
          </a:xfrm>
          <a:prstGeom prst="rect">
            <a:avLst/>
          </a:prstGeom>
          <a:solidFill>
            <a:schemeClr val="bg1"/>
          </a:solidFill>
        </p:spPr>
      </p:pic>
    </p:spTree>
    <p:extLst>
      <p:ext uri="{BB962C8B-B14F-4D97-AF65-F5344CB8AC3E}">
        <p14:creationId xmlns:p14="http://schemas.microsoft.com/office/powerpoint/2010/main" val="27096606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560</TotalTime>
  <Words>905</Words>
  <Application>Microsoft Office PowerPoint</Application>
  <PresentationFormat>Custom</PresentationFormat>
  <Paragraphs>19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UCLA Division of Undergraduate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Cruz, Diana</dc:creator>
  <cp:lastModifiedBy>Trejo Mendoza, Isaac</cp:lastModifiedBy>
  <cp:revision>363</cp:revision>
  <cp:lastPrinted>2016-07-13T23:56:52Z</cp:lastPrinted>
  <dcterms:created xsi:type="dcterms:W3CDTF">2016-06-13T20:02:52Z</dcterms:created>
  <dcterms:modified xsi:type="dcterms:W3CDTF">2026-04-02T17:07:13Z</dcterms:modified>
</cp:coreProperties>
</file>